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57" r:id="rId4"/>
    <p:sldId id="260" r:id="rId5"/>
    <p:sldId id="288" r:id="rId6"/>
    <p:sldId id="259" r:id="rId7"/>
    <p:sldId id="258" r:id="rId8"/>
    <p:sldId id="279" r:id="rId9"/>
    <p:sldId id="262" r:id="rId10"/>
    <p:sldId id="280" r:id="rId11"/>
    <p:sldId id="281" r:id="rId12"/>
    <p:sldId id="282" r:id="rId13"/>
    <p:sldId id="284" r:id="rId14"/>
    <p:sldId id="285" r:id="rId15"/>
    <p:sldId id="286" r:id="rId16"/>
    <p:sldId id="291" r:id="rId17"/>
    <p:sldId id="290" r:id="rId18"/>
    <p:sldId id="289" r:id="rId19"/>
    <p:sldId id="276" r:id="rId20"/>
    <p:sldId id="274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20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DDB1-2A2E-4300-8723-6AB7FAFD2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2A104-BA95-4DA7-86AE-5FD959EF7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6865-7357-47B2-BCD9-5F7B8198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4695C-936D-44B3-802B-2869AB92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EF07-2F10-4D7E-8876-2CE457E7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51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FDA4F-AF04-46A1-9A12-386B11C0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133CA-1B29-4702-9C4F-AC65B1305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B68D9-C74A-4271-8B45-A477B2D4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9D629-1514-4452-B441-0A7517C6A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F300D-218C-4A4A-8BF9-6C43C98E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9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BB0D-7A38-4D9B-A3E2-DC245039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3DCB9-0484-4401-92D7-EDA8DDAD3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EF31E-36A2-4C84-86A0-BA5DDED2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372FF-AA2F-4D52-91D7-9CC495A7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1F290-5A57-4F0C-857F-7DAB7AD1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04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525F-D9E9-476C-93DD-9EBC8B14F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2B87A-D64A-4177-BDBF-69369CAE8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80F96-0A05-4014-B678-035DB43F9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391AA-CF45-42B1-9B0F-88893C59B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A6FDC-7006-4595-97CD-1636DF641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4D77E-8A23-4831-88FA-AD6AA698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188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70A2-833C-4649-A439-7C0761CA5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F8B06-0A0F-493B-AC87-0EE956C1A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01CCE-DD3D-4354-ACB9-178490324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F5F2D-C253-4597-AE47-36A9E15F6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9CED1-D93D-4F00-B7D8-ED3BF971E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0714C6-98B3-416C-AC20-2C4A5F46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3DAD7-6DCA-4D84-B11C-08CE9974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D84AC-C732-4233-B305-B9772554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3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95153-78C9-4740-AE15-1D303666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61D33C-A4C3-4959-A911-6AEBE8FC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98714-ED47-431B-BA7E-CEE0E559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46587-68FE-4179-9485-4916398E6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94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2FDE5-320D-4087-AF90-F6C9C7F1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E8734-10F0-4B9E-A2B2-EC04BCA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A9CB8-4C77-44DF-B5DB-8509CC55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65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B9AA-FEA5-49E2-B760-28C73B7AE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7A736-2532-4CC2-96B5-0E539932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AA8CA-C6F4-4DDD-A6AC-96255FC64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7366B-EFFB-4D30-93BC-E69DB876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D9C0A-8978-45E1-AFE0-8DE9CC74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D0798-68C6-4FE7-8D6F-0A857C79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09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3FE2-3111-4CF4-9F79-AAA41858D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1CB2C-418D-4524-B529-F50050569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4FC10-7B2B-4B46-B3D1-A9B6A6C2C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5D99C-69E7-4B40-8141-19990581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8127F-BA41-48AB-8771-D0CBE299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4E5A0-B45B-46B0-9E27-E8707AFFB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85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6C97-65EF-4696-9C30-E84B0E72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7EE67-1069-496F-85AA-3CDF408EC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8B4D1-4BA5-497A-ABAF-871C574CF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3DA1C-E191-4B50-8E06-84E7F05E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6BC2-D2B3-4F93-BE95-361C67AB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09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D1EF13-852C-45C2-A3E6-029875108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6249D-2F0F-45EF-9AA8-BFC560C60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D0891-BC5D-4BDB-92B5-BC4AB385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747CD-3D03-486A-A5B9-87DB03F5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BF7CC-F667-42B7-8486-4D1207D6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399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D1DF46-73E6-41B7-AF3E-81299AC7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9F685-D66A-48E4-B0AC-D69378407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4D61-8FBF-4467-83E0-9A59F56B1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23671-3B8A-4F80-9A11-61DA1610CF3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2B9CD-7E5D-4D95-8D88-D393979F8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E728-703C-46A1-81C1-23474917F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70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6AD993-D631-4CC8-B016-F40F4A675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21" y="151732"/>
            <a:ext cx="9394859" cy="9294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F53902-9ACB-4D4A-A8CF-BD1A2720A3B0}"/>
              </a:ext>
            </a:extLst>
          </p:cNvPr>
          <p:cNvSpPr/>
          <p:nvPr/>
        </p:nvSpPr>
        <p:spPr>
          <a:xfrm>
            <a:off x="-925984" y="3787105"/>
            <a:ext cx="6096000" cy="175073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Supervisor:</a:t>
            </a:r>
            <a:endParaRPr lang="en-US" alt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Dr.R.Yuvaraj</a:t>
            </a:r>
            <a:r>
              <a:rPr lang="en-US" alt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Asst. Professor </a:t>
            </a:r>
          </a:p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School of Engineering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D4A4DC-DD8D-44BD-9FEE-022E126A0142}"/>
              </a:ext>
            </a:extLst>
          </p:cNvPr>
          <p:cNvSpPr/>
          <p:nvPr/>
        </p:nvSpPr>
        <p:spPr>
          <a:xfrm>
            <a:off x="895350" y="1385109"/>
            <a:ext cx="104013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sz="2800" b="1">
                <a:latin typeface="Times New Roman"/>
              </a:rPr>
              <a:t>LoRa-Enabled IoT Geo-Fencing using GPS, Arduino &amp; ESP8266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49EBB-6D3A-42F9-879D-2AFD2A1EB32A}"/>
              </a:ext>
            </a:extLst>
          </p:cNvPr>
          <p:cNvSpPr txBox="1"/>
          <p:nvPr/>
        </p:nvSpPr>
        <p:spPr>
          <a:xfrm>
            <a:off x="6568904" y="3480543"/>
            <a:ext cx="460916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M.Rohith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(192311184)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R.Lakshmi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Narasimha(192472344)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S.Rajesh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Reddy(192210654)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V D Nagendra Reddy(192472399)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Manoj Kumar(192472395)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DF9DC-61BC-46C3-AB27-BDAEEB397A39}"/>
              </a:ext>
            </a:extLst>
          </p:cNvPr>
          <p:cNvSpPr txBox="1"/>
          <p:nvPr/>
        </p:nvSpPr>
        <p:spPr>
          <a:xfrm>
            <a:off x="561975" y="2643121"/>
            <a:ext cx="101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latin typeface="Times New Roman"/>
              </a:rPr>
              <a:t>ECA14</a:t>
            </a:r>
            <a:r>
              <a:rPr lang="en-US" sz="2800" b="1" dirty="0">
                <a:latin typeface="Times New Roman"/>
              </a:rPr>
              <a:t>07 </a:t>
            </a:r>
            <a:r>
              <a:rPr sz="2800" b="1" dirty="0">
                <a:latin typeface="Times New Roman"/>
              </a:rPr>
              <a:t>- Embedded Systems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128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42EB-20B7-4DC8-FD10-542367C61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52" y="180132"/>
            <a:ext cx="899184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A14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2C46C-8749-3282-6F96-DB3D32357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algn="just">
              <a:spcAft>
                <a:spcPts val="11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embedded real-time tracking system is developed using Arduino Nano, NEO-6M GPS and RA-02 LoRa.</a:t>
            </a:r>
          </a:p>
          <a:p>
            <a:pPr algn="just">
              <a:spcAft>
                <a:spcPts val="11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coordinates are continuously acquired and processed to determine whether the tracked unit is inside a configurable 20 km geo-fence.</a:t>
            </a:r>
          </a:p>
          <a:p>
            <a:pPr algn="just">
              <a:spcAft>
                <a:spcPts val="11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provides a long-range wireless telemetry link, while ESP8266 provides Wi-Fi/IoT connectivity to the monitoring layer.</a:t>
            </a:r>
          </a:p>
          <a:p>
            <a:pPr algn="just">
              <a:spcAft>
                <a:spcPts val="11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Flask-based dashboard displays live GPS status, latitude, longitude, satellite count, HDOP, serial output and geo-fence status.</a:t>
            </a:r>
          </a:p>
          <a:p>
            <a:pPr algn="just">
              <a:spcAft>
                <a:spcPts val="11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provides a low-cost modular platform for remote location monitoring and can be extended with maps, alerts and historical logging.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5C5CC68F-93D2-1B1A-5424-E1D16C72B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36087"/>
            <a:ext cx="1157415" cy="1369608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E225EE86-1DA7-8B0D-7680-79B55B75C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8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F66698-DF8E-41F8-8EAE-16059D67545F}"/>
              </a:ext>
            </a:extLst>
          </p:cNvPr>
          <p:cNvSpPr/>
          <p:nvPr/>
        </p:nvSpPr>
        <p:spPr>
          <a:xfrm>
            <a:off x="-260836" y="728608"/>
            <a:ext cx="12191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Times New Roman"/>
              </a:rPr>
              <a:t>INTRODUCTION</a:t>
            </a:r>
            <a:endParaRPr lang="en-IN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58EFE04-4DAD-4D34-8E0F-5DFAFB201DD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2473" y="1899259"/>
            <a:ext cx="754937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trackers are used in vehicles, bikes, luggage, and even for tracking people or animals.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trackers use SIM cards (GSM) — they need network coverage and cost money every month.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is a wireless technology that sends small data over long distances (few km) using very little power, and it's completely free to use.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= GPS (finds location) + Arduino (controls everything) + LoRa (sends data far) + ESP8266 (puts data on internet) + Dashboard (shows it live).</a:t>
            </a:r>
          </a:p>
          <a:p>
            <a:pPr algn="just"/>
            <a:endParaRPr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F9EF699B-B3AC-35D5-7E96-CD693AFB6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36087"/>
            <a:ext cx="1157415" cy="1369608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AB30E063-F119-4DFF-C222-40C36B27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  <p:pic>
        <p:nvPicPr>
          <p:cNvPr id="7" name="Picture 6" descr="a_wide_high_detail_tech_illustration_photoreal_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707" y="2332874"/>
            <a:ext cx="2778710" cy="352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69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41F1BE-7C25-4F89-B6D2-7795D21F4ED4}"/>
              </a:ext>
            </a:extLst>
          </p:cNvPr>
          <p:cNvSpPr/>
          <p:nvPr/>
        </p:nvSpPr>
        <p:spPr>
          <a:xfrm>
            <a:off x="369760" y="549950"/>
            <a:ext cx="113934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D0C8A6-3055-4497-8E79-F88343056EC1}"/>
              </a:ext>
            </a:extLst>
          </p:cNvPr>
          <p:cNvSpPr/>
          <p:nvPr/>
        </p:nvSpPr>
        <p:spPr>
          <a:xfrm>
            <a:off x="1104181" y="1654404"/>
            <a:ext cx="9808234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devices may move outside their permitted geographical area without immediate notification.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moving devices is difficult and time-consuming.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coordinates alone do not clearly indicate whether a device is inside or outside a permitted region.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 may not always be available at remote locations.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system is required to provide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tracking, geo-fence detection, long-range communication and real-time monitoring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ue and white logo&#10;&#10;AI-generated content may be incorrect.">
            <a:extLst>
              <a:ext uri="{FF2B5EF4-FFF2-40B4-BE49-F238E27FC236}">
                <a16:creationId xmlns:a16="http://schemas.microsoft.com/office/drawing/2014/main" id="{EF7AEC8C-91B9-159B-EFBE-36C4DE22A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  <p:pic>
        <p:nvPicPr>
          <p:cNvPr id="3" name="Picture 2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F01FC1A4-AE50-1FE3-1DAB-CB7682506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7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7736-8676-ED2B-43FC-AC6DD17F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F3E2-C68F-60CC-7131-D09665EE9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acquire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location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device using GPS. </a:t>
            </a:r>
          </a:p>
          <a:p>
            <a:pPr lvl="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process GPS coordinates using an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km geo-fence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around a reference location. </a:t>
            </a:r>
          </a:p>
          <a:p>
            <a:pPr lvl="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the device location as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or ALERT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transmit location information using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communication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 the system to an IoT dashboard using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live GPS and geo-fence information through a web-based dashboard.</a:t>
            </a:r>
          </a:p>
          <a:p>
            <a:endParaRPr lang="en-US" sz="2600" dirty="0"/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1686F3D5-9121-6F7B-145C-FDFDC29FB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77DF687E-0FD5-A2A0-5E58-B89BB6994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7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4346E8-46F9-4097-BA4E-CD4451A33A5C}"/>
              </a:ext>
            </a:extLst>
          </p:cNvPr>
          <p:cNvSpPr/>
          <p:nvPr/>
        </p:nvSpPr>
        <p:spPr>
          <a:xfrm>
            <a:off x="0" y="33716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/Components Used</a:t>
            </a:r>
          </a:p>
        </p:txBody>
      </p:sp>
      <p:pic>
        <p:nvPicPr>
          <p:cNvPr id="2" name="Picture 1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E75C62CA-AAA0-3601-521E-4C4C66211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14ABD928-D889-CD1D-E560-3F033CFF9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AFE185-F954-6B78-294E-FB3A82A4B2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336" y="1610564"/>
            <a:ext cx="2939619" cy="42136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10ED38-EE67-4C32-8665-B120C84D69AE}"/>
              </a:ext>
            </a:extLst>
          </p:cNvPr>
          <p:cNvSpPr txBox="1"/>
          <p:nvPr/>
        </p:nvSpPr>
        <p:spPr>
          <a:xfrm>
            <a:off x="1025780" y="1610564"/>
            <a:ext cx="3417410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TinyGPS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 Library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Library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BE545A-5AF7-DE2D-8BDC-3504AF94372F}"/>
              </a:ext>
            </a:extLst>
          </p:cNvPr>
          <p:cNvSpPr txBox="1"/>
          <p:nvPr/>
        </p:nvSpPr>
        <p:spPr>
          <a:xfrm>
            <a:off x="4350235" y="1610564"/>
            <a:ext cx="395319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NEO-6M GPS Module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RA-02 LoRa Module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 Wi-Fi Module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Antenna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Wires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Cable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618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1F5AE8-110B-4A2E-ACD1-5B985D7C513B}"/>
              </a:ext>
            </a:extLst>
          </p:cNvPr>
          <p:cNvSpPr/>
          <p:nvPr/>
        </p:nvSpPr>
        <p:spPr>
          <a:xfrm>
            <a:off x="4138394" y="241626"/>
            <a:ext cx="41158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LITERATURE REVIEW</a:t>
            </a:r>
            <a:endParaRPr lang="en-IN" sz="28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600380-85FF-47C3-8B8E-106B41F30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819395"/>
              </p:ext>
            </p:extLst>
          </p:nvPr>
        </p:nvGraphicFramePr>
        <p:xfrm>
          <a:off x="1488142" y="1654690"/>
          <a:ext cx="9233645" cy="4459016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016446">
                  <a:extLst>
                    <a:ext uri="{9D8B030D-6E8A-4147-A177-3AD203B41FA5}">
                      <a16:colId xmlns:a16="http://schemas.microsoft.com/office/drawing/2014/main" val="757389570"/>
                    </a:ext>
                  </a:extLst>
                </a:gridCol>
                <a:gridCol w="1624196">
                  <a:extLst>
                    <a:ext uri="{9D8B030D-6E8A-4147-A177-3AD203B41FA5}">
                      <a16:colId xmlns:a16="http://schemas.microsoft.com/office/drawing/2014/main" val="1091210939"/>
                    </a:ext>
                  </a:extLst>
                </a:gridCol>
                <a:gridCol w="1661742">
                  <a:extLst>
                    <a:ext uri="{9D8B030D-6E8A-4147-A177-3AD203B41FA5}">
                      <a16:colId xmlns:a16="http://schemas.microsoft.com/office/drawing/2014/main" val="3551718635"/>
                    </a:ext>
                  </a:extLst>
                </a:gridCol>
                <a:gridCol w="1642969">
                  <a:extLst>
                    <a:ext uri="{9D8B030D-6E8A-4147-A177-3AD203B41FA5}">
                      <a16:colId xmlns:a16="http://schemas.microsoft.com/office/drawing/2014/main" val="77620192"/>
                    </a:ext>
                  </a:extLst>
                </a:gridCol>
                <a:gridCol w="1635736">
                  <a:extLst>
                    <a:ext uri="{9D8B030D-6E8A-4147-A177-3AD203B41FA5}">
                      <a16:colId xmlns:a16="http://schemas.microsoft.com/office/drawing/2014/main" val="3572241440"/>
                    </a:ext>
                  </a:extLst>
                </a:gridCol>
                <a:gridCol w="1652556">
                  <a:extLst>
                    <a:ext uri="{9D8B030D-6E8A-4147-A177-3AD203B41FA5}">
                      <a16:colId xmlns:a16="http://schemas.microsoft.com/office/drawing/2014/main" val="1391788569"/>
                    </a:ext>
                  </a:extLst>
                </a:gridCol>
              </a:tblGrid>
              <a:tr h="602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S.No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IEEE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Technique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Key 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482593"/>
                  </a:ext>
                </a:extLst>
              </a:tr>
              <a:tr h="778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Smart Geo-Fencing System Using LoRaWAN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LoRaWAN + GPS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Long-range asset tracking with low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Limited indoor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029005"/>
                  </a:ext>
                </a:extLst>
              </a:tr>
              <a:tr h="724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AI-Based Vehicle Geo-Fencing using IoT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GPS + 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Predicts abnormal vehicle movement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Higher processing 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768079"/>
                  </a:ext>
                </a:extLst>
              </a:tr>
              <a:tr h="733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IoT-Based Smart Asset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ESP8266 + GPS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Real-time cloud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Wi-Fi dependency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027201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LoRa Enabled Intelligent Tracking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LoRa + Arduino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Long-distance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Low data transmission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791491"/>
                  </a:ext>
                </a:extLst>
              </a:tr>
              <a:tr h="714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Edge AI for Geo-Fencing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TinyML + GPS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AI-based anomaly detection on edge devices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Requires optimized AI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03174"/>
                  </a:ext>
                </a:extLst>
              </a:tr>
            </a:tbl>
          </a:graphicData>
        </a:graphic>
      </p:graphicFrame>
      <p:pic>
        <p:nvPicPr>
          <p:cNvPr id="3" name="Picture 2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9F4BD0DE-BFA7-8E5F-A28B-95A565EEE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9" y="63217"/>
            <a:ext cx="1157415" cy="1369608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F8E0C9F5-7CEB-F75F-3C1E-E0C27AAD2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753" y="63217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46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D6E7-4C01-45AC-C1AD-CB97DEC3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FA67B-CF9A-DEBF-3714-FCD4718FC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6453" y="2419183"/>
            <a:ext cx="7055498" cy="27779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350" b="1">
                <a:solidFill>
                  <a:srgbClr val="000000"/>
                </a:solidFill>
                <a:latin typeface="Times New Roman"/>
              </a:rPr>
              <a:t>Module 1: GPS Location Acquisition Module</a:t>
            </a:r>
          </a:p>
          <a:p>
            <a:r>
              <a:rPr sz="1350" b="1">
                <a:solidFill>
                  <a:srgbClr val="000000"/>
                </a:solidFill>
                <a:latin typeface="Times New Roman"/>
              </a:rPr>
              <a:t>Module 2: Arduino Processing and Geo-Fence Logic Module</a:t>
            </a:r>
          </a:p>
          <a:p>
            <a:r>
              <a:rPr sz="1350" b="1">
                <a:solidFill>
                  <a:srgbClr val="000000"/>
                </a:solidFill>
                <a:latin typeface="Times New Roman"/>
              </a:rPr>
              <a:t>Module 3: LoRa Wireless Communication Module</a:t>
            </a:r>
          </a:p>
          <a:p>
            <a:r>
              <a:rPr sz="1350" b="1">
                <a:solidFill>
                  <a:srgbClr val="000000"/>
                </a:solidFill>
                <a:latin typeface="Times New Roman"/>
              </a:rPr>
              <a:t>Module 4: ESP8266 IoT Connectivity Module</a:t>
            </a:r>
          </a:p>
          <a:p>
            <a:r>
              <a:rPr sz="1350" b="1">
                <a:solidFill>
                  <a:srgbClr val="000000"/>
                </a:solidFill>
                <a:latin typeface="Times New Roman"/>
              </a:rPr>
              <a:t>Module 5: Alert and Notification Module</a:t>
            </a:r>
          </a:p>
          <a:p>
            <a:r>
              <a:rPr sz="1350" b="1">
                <a:solidFill>
                  <a:srgbClr val="000000"/>
                </a:solidFill>
                <a:latin typeface="Times New Roman"/>
              </a:rPr>
              <a:t>Module 6: Dashboard and Monitoring Module</a:t>
            </a:r>
          </a:p>
        </p:txBody>
      </p:sp>
      <p:pic>
        <p:nvPicPr>
          <p:cNvPr id="4" name="Picture 3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4CFF7AC5-C6F4-010C-5D7E-0ECA321F6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44A4C289-C450-304F-1FDE-B7464D115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54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24B100-EF21-4E6B-BEA6-7B1E1824B310}"/>
              </a:ext>
            </a:extLst>
          </p:cNvPr>
          <p:cNvSpPr/>
          <p:nvPr/>
        </p:nvSpPr>
        <p:spPr>
          <a:xfrm>
            <a:off x="257908" y="602402"/>
            <a:ext cx="11071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Times New Roman"/>
              </a:rPr>
              <a:t>Module 1: GPS Location Acquisition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08856B-18A2-46D8-BD72-A8BD00D8B0E2}"/>
              </a:ext>
            </a:extLst>
          </p:cNvPr>
          <p:cNvSpPr/>
          <p:nvPr/>
        </p:nvSpPr>
        <p:spPr>
          <a:xfrm>
            <a:off x="839544" y="1496364"/>
            <a:ext cx="1021952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0000"/>
                </a:solidFill>
                <a:latin typeface="Times New Roman"/>
              </a:rPr>
              <a:t>Methodology :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000000"/>
              </a:solidFill>
              <a:latin typeface="Times New Roman"/>
            </a:endParaRP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NEO-6M GPS module receives signals from available satellites.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generates NMEA data containing location and satellite information.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Arduino Nano receives GPS data through serial communication.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TinyGPS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 library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and extracts useful GPS information.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Latitude, longitude, satellite count and HDOP are obtained.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checks whether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GPS fix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available before using the location.</a:t>
            </a:r>
          </a:p>
        </p:txBody>
      </p:sp>
      <p:pic>
        <p:nvPicPr>
          <p:cNvPr id="3" name="Picture 2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3590CB0F-F01E-F539-B260-8F38A98A9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CD52678-569B-96C0-83D1-E612FEF66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81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26FA-3F08-8EAD-143E-47662178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6A858F-EF4F-3026-C113-B41A32619D1B}"/>
              </a:ext>
            </a:extLst>
          </p:cNvPr>
          <p:cNvSpPr/>
          <p:nvPr/>
        </p:nvSpPr>
        <p:spPr>
          <a:xfrm>
            <a:off x="1647589" y="542257"/>
            <a:ext cx="85331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Times New Roman"/>
              </a:rPr>
              <a:t>Module 2: Arduino Processing and Geo-Fence Logic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8766B-3FDF-90E4-FF34-7029994EE59C}"/>
              </a:ext>
            </a:extLst>
          </p:cNvPr>
          <p:cNvSpPr/>
          <p:nvPr/>
        </p:nvSpPr>
        <p:spPr>
          <a:xfrm>
            <a:off x="688950" y="1631933"/>
            <a:ext cx="7436478" cy="5421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b="1" dirty="0">
                <a:solidFill>
                  <a:srgbClr val="000000"/>
                </a:solidFill>
                <a:latin typeface="Times New Roman"/>
              </a:rPr>
              <a:t>Methodology :</a:t>
            </a:r>
          </a:p>
          <a:p>
            <a:pPr lvl="0"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 acts as the main processing unit.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received GPS coordinates are processed continuously.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fixed reference location is configured as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geo-fence center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distance between the current GPS position and the reference point is calculated.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safe-zone radius of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km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distance ≤ 20 km →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distance &gt; 20 km →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sz="2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740367E0-36B2-5D6A-3020-6879056D4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019CD7AE-8912-D013-C4A2-2E895B984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  <p:pic>
        <p:nvPicPr>
          <p:cNvPr id="6" name="Picture 5" descr="a_close_up_tabletop_workbench_scene_photograph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98" y="1915064"/>
            <a:ext cx="3060795" cy="439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33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B57B7-545F-4C1F-54B4-5ADB34E2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30D6AB-AE04-329F-C4B9-F4F173C50E1C}"/>
              </a:ext>
            </a:extLst>
          </p:cNvPr>
          <p:cNvSpPr/>
          <p:nvPr/>
        </p:nvSpPr>
        <p:spPr>
          <a:xfrm>
            <a:off x="390325" y="301109"/>
            <a:ext cx="11071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Times New Roman"/>
              </a:rPr>
              <a:t>Module 3: LoRa Wireless Communication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F443F2-EBF1-ADF2-5027-BB00D6DA64EC}"/>
              </a:ext>
            </a:extLst>
          </p:cNvPr>
          <p:cNvSpPr/>
          <p:nvPr/>
        </p:nvSpPr>
        <p:spPr>
          <a:xfrm>
            <a:off x="1202706" y="1496364"/>
            <a:ext cx="9786588" cy="4776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600" b="1" dirty="0">
                <a:solidFill>
                  <a:srgbClr val="000000"/>
                </a:solidFill>
                <a:latin typeface="Times New Roman"/>
              </a:rPr>
              <a:t>Methodology </a:t>
            </a:r>
            <a:r>
              <a:rPr lang="en-US" sz="2600" b="1"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>
              <a:lnSpc>
                <a:spcPct val="150000"/>
              </a:lnSpc>
            </a:pPr>
            <a:endParaRPr lang="en-US" sz="2600" b="1" dirty="0">
              <a:solidFill>
                <a:srgbClr val="000000"/>
              </a:solidFill>
              <a:latin typeface="Times New Roman"/>
            </a:endParaRP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GPS information is prepared as a wireless data packet.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RA-02 LoRa module transmits the information over a long-range wireless link.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corresponding LoRa receiver receives the transmitted packet.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and geo-fence information can be transferred without depending directly on cellular communication.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communication provides a suitable wireless link for remote monitoring applications.</a:t>
            </a:r>
          </a:p>
          <a:p>
            <a:pPr algn="just">
              <a:lnSpc>
                <a:spcPct val="150000"/>
              </a:lnSpc>
            </a:pP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25900B48-FA99-8B84-7B8E-180091F0F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62596E31-7D18-48BF-5E63-3BA1519BB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03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9016-A6AC-8AF8-9B4B-1766E14D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529429-C9AC-A8D6-563D-D0C3D1A053F1}"/>
              </a:ext>
            </a:extLst>
          </p:cNvPr>
          <p:cNvSpPr/>
          <p:nvPr/>
        </p:nvSpPr>
        <p:spPr>
          <a:xfrm>
            <a:off x="185052" y="541420"/>
            <a:ext cx="11071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Times New Roman"/>
              </a:rPr>
              <a:t>Module 4: ESP8266 IoT Connectivity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A0CBC-9588-9726-5688-667FF36D52AA}"/>
              </a:ext>
            </a:extLst>
          </p:cNvPr>
          <p:cNvSpPr/>
          <p:nvPr/>
        </p:nvSpPr>
        <p:spPr>
          <a:xfrm>
            <a:off x="839544" y="1733110"/>
            <a:ext cx="10193773" cy="3607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 algn="just"/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 acts as the connectivity layer between the wireless system and the monitoring application.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received data is processed and prepared for IoT communication.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 connects to an available Wi-Fi network.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information is forwarded to the dashboard.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users to monitor the device remotely through a web interface.</a:t>
            </a:r>
          </a:p>
          <a:p>
            <a:pPr algn="ctr">
              <a:lnSpc>
                <a:spcPct val="150000"/>
              </a:lnSpc>
            </a:pPr>
            <a:endParaRPr sz="20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DCB66134-124D-D184-6E3C-C0646DE41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E12422E2-BD11-D311-C5C6-C37BBB168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3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66731-A9B5-667D-DAD1-9AA91385B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8476DA-AE63-2F42-BF02-1FA4257316C1}"/>
              </a:ext>
            </a:extLst>
          </p:cNvPr>
          <p:cNvSpPr/>
          <p:nvPr/>
        </p:nvSpPr>
        <p:spPr>
          <a:xfrm>
            <a:off x="1882189" y="541420"/>
            <a:ext cx="84276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00000"/>
                </a:solidFill>
                <a:latin typeface="Times New Roman"/>
              </a:rPr>
              <a:t>Module </a:t>
            </a:r>
            <a:r>
              <a:rPr lang="en-US" sz="2800" b="1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sz="2800" b="1" dirty="0">
                <a:solidFill>
                  <a:srgbClr val="000000"/>
                </a:solidFill>
                <a:latin typeface="Times New Roman"/>
              </a:rPr>
              <a:t>: Dashboard and Monitoring Module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6C0966-4C3C-F23C-4A6B-9FA77662619C}"/>
              </a:ext>
            </a:extLst>
          </p:cNvPr>
          <p:cNvSpPr/>
          <p:nvPr/>
        </p:nvSpPr>
        <p:spPr>
          <a:xfrm>
            <a:off x="1152363" y="1496364"/>
            <a:ext cx="10019729" cy="5822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receives and displays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GPS information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system.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latitude, longitude, satellite count and HDOP.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shows the current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and LoRa communication status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distance from the configured reference point is used to display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km geo-fence status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displayed when the device is within 20 km.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displayed when the device moves beyond 20 km.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 centralized interface for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remote monitoring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6EAE88F5-254F-1936-0D83-9F216314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91DF81F3-66EF-3FC3-6029-348C821C8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18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FC61F-9C42-70B5-55DE-4C5EEAA7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230DA57-AA99-8964-0D0B-D38137C32273}"/>
              </a:ext>
            </a:extLst>
          </p:cNvPr>
          <p:cNvSpPr txBox="1"/>
          <p:nvPr/>
        </p:nvSpPr>
        <p:spPr>
          <a:xfrm>
            <a:off x="4790835" y="540822"/>
            <a:ext cx="168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04A1615C-D8CC-D673-4449-040056400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080067" cy="1278080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CFB57009-070B-197C-7AC9-7F3634846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9"/>
            <a:ext cx="1524000" cy="1273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3D32E8-3980-9F50-6911-020B847A3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58" y="1475117"/>
            <a:ext cx="9980763" cy="502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77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2556-3A0E-E8F4-6EB1-6254F6C9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6440-6756-3207-F3CF-37F57075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08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B3A496C3-3BF7-8424-94EA-230C23422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8DDF5182-80C4-111D-2EF5-9DF66A15E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E83EBD-AD8C-80C2-1005-E9E832E82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147977" y="1242206"/>
            <a:ext cx="7823874" cy="533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3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97642-AB2B-DF05-9517-4ACA73A0F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Methodology / 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9FD2C-A76E-A3C4-43F4-BDAD02E8C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140"/>
            <a:ext cx="10515600" cy="486473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Operation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the system. 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GPS, Arduino and LoRa modules. 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GPS data from NEO-6M. 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valid GPS fix. 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latitude and longitude. 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distance from the reference location. 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distance with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km limit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or ALERT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status. 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 the information through LoRa. 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the information through ESP8266. 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live information on the dashboard.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090CF945-A1AE-0B62-C6D4-BC8B0B104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080067" cy="1278080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BD628CAA-9B02-72EB-8E6E-CC62B3A59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9"/>
            <a:ext cx="1524000" cy="127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51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D5C38-C19F-923F-A654-8EBAC796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9711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3A03A-50D5-96A3-2D6A-4DA9474E6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568"/>
            <a:ext cx="4544028" cy="420478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Dashboard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displays:</a:t>
            </a:r>
          </a:p>
          <a:p>
            <a:pPr lvl="0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Status </a:t>
            </a:r>
          </a:p>
          <a:p>
            <a:pPr lvl="0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Latitude </a:t>
            </a:r>
          </a:p>
          <a:p>
            <a:pPr lvl="0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Longitude </a:t>
            </a:r>
          </a:p>
          <a:p>
            <a:pPr lvl="0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Satellites </a:t>
            </a:r>
          </a:p>
          <a:p>
            <a:pPr lvl="0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HDOP </a:t>
            </a:r>
          </a:p>
          <a:p>
            <a:pPr lvl="0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Character Count </a:t>
            </a:r>
          </a:p>
          <a:p>
            <a:pPr lvl="0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Transmission Status </a:t>
            </a:r>
          </a:p>
          <a:p>
            <a:pPr lvl="0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Serial Output </a:t>
            </a:r>
          </a:p>
          <a:p>
            <a:pPr lvl="0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Geo-Fence Status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D8B31-A90D-BCE8-A6F1-6A4DFA75E70D}"/>
              </a:ext>
            </a:extLst>
          </p:cNvPr>
          <p:cNvSpPr txBox="1"/>
          <p:nvPr/>
        </p:nvSpPr>
        <p:spPr>
          <a:xfrm>
            <a:off x="6494250" y="1492568"/>
            <a:ext cx="3340273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Testing Observation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FIX: NO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Satellites: 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HDOP: 99.99</a:t>
            </a:r>
          </a:p>
          <a:p>
            <a:pPr algn="just"/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1525D-CF5D-97D2-9DC9-DC2B1F93BFA2}"/>
              </a:ext>
            </a:extLst>
          </p:cNvPr>
          <p:cNvSpPr txBox="1"/>
          <p:nvPr/>
        </p:nvSpPr>
        <p:spPr>
          <a:xfrm>
            <a:off x="800870" y="5505285"/>
            <a:ext cx="99585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currently receives GPS communication data, but a valid satellite fix is required before live coordinates can be used for geo-fence classification.</a:t>
            </a:r>
          </a:p>
          <a:p>
            <a:pPr algn="just"/>
            <a:endParaRPr lang="en-US" sz="2000" dirty="0"/>
          </a:p>
        </p:txBody>
      </p:sp>
      <p:pic>
        <p:nvPicPr>
          <p:cNvPr id="7" name="Picture 6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A75DE51B-CC67-8629-64D3-B34E81141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080067" cy="1278080"/>
          </a:xfrm>
          <a:prstGeom prst="rect">
            <a:avLst/>
          </a:prstGeom>
        </p:spPr>
      </p:pic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65F5CDE2-95E7-2E60-5682-DC2067F99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9"/>
            <a:ext cx="1524000" cy="127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41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30C4-9494-B5E0-D655-E1B36D7D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6FD021-06E3-E36B-D50D-6B9B08377A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710214"/>
              </p:ext>
            </p:extLst>
          </p:nvPr>
        </p:nvGraphicFramePr>
        <p:xfrm>
          <a:off x="800870" y="2460281"/>
          <a:ext cx="10515600" cy="3307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532028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15247379"/>
                    </a:ext>
                  </a:extLst>
                </a:gridCol>
              </a:tblGrid>
              <a:tr h="451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476466"/>
                  </a:ext>
                </a:extLst>
              </a:tr>
              <a:tr h="451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has valid 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543045"/>
                  </a:ext>
                </a:extLst>
              </a:tr>
              <a:tr h="451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≤ 20 km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627705"/>
                  </a:ext>
                </a:extLst>
              </a:tr>
              <a:tr h="451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&gt; 20 km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932558"/>
                  </a:ext>
                </a:extLst>
              </a:tr>
              <a:tr h="451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has no satellite 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NO FIX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537331"/>
                  </a:ext>
                </a:extLst>
              </a:tr>
              <a:tr h="451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valid GPS coordinates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Geo-fence decision unavailable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445333"/>
                  </a:ext>
                </a:extLst>
              </a:tr>
              <a:tr h="451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 data received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 CONNECTED/RECEIVING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5936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696C23-B993-E029-53CA-B0EB7781E18D}"/>
              </a:ext>
            </a:extLst>
          </p:cNvPr>
          <p:cNvSpPr txBox="1"/>
          <p:nvPr/>
        </p:nvSpPr>
        <p:spPr>
          <a:xfrm>
            <a:off x="800870" y="1771808"/>
            <a:ext cx="40926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System Behavior</a:t>
            </a:r>
          </a:p>
        </p:txBody>
      </p:sp>
      <p:pic>
        <p:nvPicPr>
          <p:cNvPr id="8" name="Picture 7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512E3B51-331D-2B58-A00B-0A702DAA3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080067" cy="1278080"/>
          </a:xfrm>
          <a:prstGeom prst="rect">
            <a:avLst/>
          </a:prstGeom>
        </p:spPr>
      </p:pic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564D7DA0-7B44-C19C-83C4-880ECE61B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9"/>
            <a:ext cx="1524000" cy="127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11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59DF16-2533-44C9-856A-9F01B4B8E017}"/>
              </a:ext>
            </a:extLst>
          </p:cNvPr>
          <p:cNvSpPr/>
          <p:nvPr/>
        </p:nvSpPr>
        <p:spPr>
          <a:xfrm>
            <a:off x="4400724" y="616931"/>
            <a:ext cx="26196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Times New Roman"/>
              </a:rPr>
              <a:t>CONCLUSION</a:t>
            </a:r>
            <a:endParaRPr lang="en-IN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5CCF30B-0D04-48A9-8230-23EF807FB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159" y="1647361"/>
            <a:ext cx="10235411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integrates GPS, Arduino, LoRa, ESP8266 and a web dashboard.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provides the real-time location of the tracked device.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processes the coordinates and implements the 20 km geo-fence logic.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provides a long-range communication mechanism for transferring location information.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 provides IoT connectivity for remote monitoring.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 simple interface for viewing location and NORMAL/ALERT status.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further developed into a complete real-time tracking and alert platform. </a:t>
            </a:r>
          </a:p>
        </p:txBody>
      </p:sp>
      <p:pic>
        <p:nvPicPr>
          <p:cNvPr id="2" name="Picture 1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51F107AA-47D3-47C5-4913-6395E4E93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61ACB81C-46B7-41B8-7276-8FDE1F315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537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F31BE7-49C5-46EE-BD74-BA134DADD973}"/>
              </a:ext>
            </a:extLst>
          </p:cNvPr>
          <p:cNvSpPr/>
          <p:nvPr/>
        </p:nvSpPr>
        <p:spPr>
          <a:xfrm>
            <a:off x="3484321" y="815559"/>
            <a:ext cx="46217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Times New Roman"/>
              </a:rPr>
              <a:t>FUTURE ENHANCEMENT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E711140-FE8C-4381-895E-471E13C5A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026" y="1932256"/>
            <a:ext cx="9194579" cy="367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an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live map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and email alerts when the device crosses the geo-fence.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of location history and alert events.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data storage and analytics.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of multiple GPS devices simultaneously.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 dashboard/application.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and solar-powered field deployment.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advanced location tracking and route-history features.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sz="2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166D7CB8-161D-8FD3-11CC-211B5AAA0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C510C728-9DEB-7C38-9A65-6A9FC2802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33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6BB18F-BA07-46FE-A606-D0996AE4ED63}"/>
              </a:ext>
            </a:extLst>
          </p:cNvPr>
          <p:cNvSpPr/>
          <p:nvPr/>
        </p:nvSpPr>
        <p:spPr>
          <a:xfrm>
            <a:off x="4493812" y="541420"/>
            <a:ext cx="2598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Times New Roman"/>
              </a:rPr>
              <a:t>REFERENCES</a:t>
            </a:r>
            <a:endParaRPr lang="en-IN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91E2D72-AD67-4F26-8E7C-6EF8220F983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18252" y="1885818"/>
            <a:ext cx="9152670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Semtech Corporation, “LoRa and LoRaWAN Technical Overview,” 2026.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sz="2000" dirty="0" err="1">
                <a:solidFill>
                  <a:srgbClr val="000000"/>
                </a:solidFill>
                <a:latin typeface="Times New Roman"/>
              </a:rPr>
              <a:t>Espressif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Systems, “ESP8266EX Datasheet,” 2026.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Arduino, “Arduino Documentation and Hardware Reference,” 2026.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u-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blox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“NEO-6 GPS Modules Data Sheet,” 2011.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S. Sinha and R. K. Singh, “IoT-Based Geo-Fencing and Tracking System,” International Journal of Embedded Systems, 2023.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A. Kumar and P. Sharma, “Low Power Wide Area Network for IoT Applications,” IEEE IoT Journal, 2022.</a:t>
            </a:r>
          </a:p>
        </p:txBody>
      </p:sp>
      <p:pic>
        <p:nvPicPr>
          <p:cNvPr id="2" name="Picture 1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8E8930F0-22A3-8E25-CF78-986F89040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37" y="126756"/>
            <a:ext cx="1157415" cy="1369608"/>
          </a:xfrm>
          <a:prstGeom prst="rect">
            <a:avLst/>
          </a:prstGeom>
        </p:spPr>
      </p:pic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6F608E6C-8E7A-7028-320C-9CFB042B5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92" y="131518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05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13F1-7C80-460E-9CCB-E5D815B4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57291FF-E73A-4FBC-B6A8-0E9555CF3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4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1419</Words>
  <Application>Microsoft Office PowerPoint</Application>
  <PresentationFormat>Widescreen</PresentationFormat>
  <Paragraphs>215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</vt:lpstr>
      <vt:lpstr>PowerPoint Presentation</vt:lpstr>
      <vt:lpstr>PowerPoint Presentation</vt:lpstr>
      <vt:lpstr>Objectives</vt:lpstr>
      <vt:lpstr>PowerPoint Presentation</vt:lpstr>
      <vt:lpstr>PowerPoint Presentation</vt:lpstr>
      <vt:lpstr>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 DIAGRAM</vt:lpstr>
      <vt:lpstr>Working Methodology / Flowchart</vt:lpstr>
      <vt:lpstr>Dashboard Result</vt:lpstr>
      <vt:lpstr>Result Analysis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rohith11254collage@outlook.com</cp:lastModifiedBy>
  <cp:revision>22</cp:revision>
  <dcterms:created xsi:type="dcterms:W3CDTF">2026-01-30T03:40:50Z</dcterms:created>
  <dcterms:modified xsi:type="dcterms:W3CDTF">2026-09-01T17:02:52Z</dcterms:modified>
</cp:coreProperties>
</file>